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A0BF"/>
                </a:solidFill>
                <a:latin typeface="Nunito"/>
              </a:rPr>
              <a:t>SİGARA BIRAKMA ASİSTANI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E8E4EF"/>
                </a:solidFill>
                <a:latin typeface="Nunito"/>
              </a:rPr>
              <a:t>Luno · Ciğerito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9B95A8"/>
                </a:solidFill>
                <a:latin typeface="Nunito"/>
              </a:rPr>
              <a:t>Bırakanlar için değil,</a:t>
            </a:r>
          </a:p>
          <a:p>
            <a:pPr algn="l"/>
            <a:r>
              <a:rPr sz="2200" b="0">
                <a:solidFill>
                  <a:srgbClr val="9B95A8"/>
                </a:solidFill>
                <a:latin typeface="Nunito"/>
              </a:rPr>
              <a:t>bırakmak isteyenler için tasarlandı.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3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ctr"/>
            <a:r>
              <a:rPr sz="1100" b="1">
                <a:solidFill>
                  <a:srgbClr val="E8E4EF"/>
                </a:solidFill>
                <a:latin typeface="Nunito"/>
              </a:rPr>
              <a:t>Flutter · Riverpod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48056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3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ctr"/>
            <a:r>
              <a:rPr sz="1100" b="1">
                <a:solidFill>
                  <a:srgbClr val="E8E4EF"/>
                </a:solidFill>
                <a:latin typeface="Nunito"/>
              </a:rPr>
              <a:t>Firebase · Hive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48056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D4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ctr"/>
            <a:r>
              <a:rPr sz="1100" b="1">
                <a:solidFill>
                  <a:srgbClr val="1A1625"/>
                </a:solidFill>
                <a:latin typeface="Nunito"/>
              </a:rPr>
              <a:t>Maskot Tabanlı 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B95A8"/>
                </a:solidFill>
                <a:latin typeface="Nunito"/>
              </a:rPr>
              <a:t>“Her sigara hayatından 11 dakika çalar.” — Ciğerito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914400"/>
            <a:ext cx="3657600" cy="5029200"/>
          </a:xfrm>
          <a:prstGeom prst="roundRect">
            <a:avLst>
              <a:gd name="adj" fmla="val 14000"/>
            </a:avLst>
          </a:prstGeom>
          <a:ln>
            <a:noFill/>
          </a:ln>
          <a:gradFill flip="none" rotWithShape="1">
            <a:gsLst>
              <a:gs pos="0">
                <a:srgbClr val="E8A0BF"/>
              </a:gs>
              <a:gs pos="100000">
                <a:srgbClr val="D4789E"/>
              </a:gs>
            </a:gsLst>
            <a:lin ang="81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fault_cigerito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2918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A0BF"/>
                </a:solidFill>
                <a:latin typeface="Nunito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4EF"/>
                </a:solidFill>
                <a:latin typeface="Nunito"/>
              </a:rPr>
              <a:t>Bırakanlar tebrik ediliyor.</a:t>
            </a:r>
          </a:p>
          <a:p>
            <a:pPr algn="l"/>
            <a:r>
              <a:rPr sz="3000" b="1">
                <a:solidFill>
                  <a:srgbClr val="E8E4EF"/>
                </a:solidFill>
                <a:latin typeface="Nunito"/>
              </a:rPr>
              <a:t>İsteyenler yalnız bırakılıyor.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40080" cy="64008"/>
          </a:xfrm>
          <a:prstGeom prst="roundRect">
            <a:avLst>
              <a:gd name="adj" fmla="val 12000"/>
            </a:avLst>
          </a:prstGeom>
          <a:solidFill>
            <a:srgbClr val="D4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109728" cy="1051560"/>
          </a:xfrm>
          <a:prstGeom prst="roundRect">
            <a:avLst>
              <a:gd name="adj" fmla="val 12000"/>
            </a:avLst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57373"/>
                </a:solidFill>
                <a:latin typeface="Nunito"/>
              </a:rPr>
              <a:t>Diğer uygulamalar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8E4EF"/>
                </a:solidFill>
                <a:latin typeface="Nunito"/>
              </a:rPr>
              <a:t>Bırakmış kullanıcıya kaç gün geçtiğini söyler.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2044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520440"/>
            <a:ext cx="109728" cy="1051560"/>
          </a:xfrm>
          <a:prstGeom prst="roundRect">
            <a:avLst>
              <a:gd name="adj" fmla="val 12000"/>
            </a:avLst>
          </a:prstGeom>
          <a:solidFill>
            <a:srgbClr val="7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850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C49A"/>
                </a:solidFill>
                <a:latin typeface="Nunito"/>
              </a:rPr>
              <a:t>Luno · Ciğerito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8E4EF"/>
                </a:solidFill>
                <a:latin typeface="Nunito"/>
              </a:rPr>
              <a:t>Bırakmak isteyene gerçek hasarı, kaybı ve duyguyu gösterir.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75488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754880"/>
            <a:ext cx="109728" cy="1051560"/>
          </a:xfrm>
          <a:prstGeom prst="roundRect">
            <a:avLst>
              <a:gd name="adj" fmla="val 12000"/>
            </a:avLst>
          </a:prstGeom>
          <a:solidFill>
            <a:srgbClr val="F0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194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0C987"/>
                </a:solidFill>
                <a:latin typeface="Nunito"/>
              </a:rPr>
              <a:t>Eksik halka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8E4EF"/>
                </a:solidFill>
                <a:latin typeface="Nunito"/>
              </a:rPr>
              <a:t>Karar verme anı — motivasyon, farkındalık, eşlik.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95A8"/>
                </a:solidFill>
                <a:latin typeface="Nunito"/>
              </a:rPr>
              <a:t>Luno · Ciğerito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B95A8"/>
                </a:solidFill>
                <a:latin typeface="Nunito"/>
              </a:rPr>
              <a:t>01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A0BF"/>
                </a:solidFill>
                <a:latin typeface="Nunito"/>
              </a:rPr>
              <a:t>MASKOT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4EF"/>
                </a:solidFill>
                <a:latin typeface="Nunito"/>
              </a:rPr>
              <a:t>Ciğerito ile duygusal bağ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40080" cy="64008"/>
          </a:xfrm>
          <a:prstGeom prst="roundRect">
            <a:avLst>
              <a:gd name="adj" fmla="val 12000"/>
            </a:avLst>
          </a:prstGeom>
          <a:solidFill>
            <a:srgbClr val="D4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3566160" cy="39319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2834640" cy="2468880"/>
          </a:xfrm>
          <a:prstGeom prst="roundRect">
            <a:avLst>
              <a:gd name="adj" fmla="val 14000"/>
            </a:avLst>
          </a:prstGeom>
          <a:ln>
            <a:noFill/>
          </a:ln>
          <a:gradFill flip="none" rotWithShape="1">
            <a:gsLst>
              <a:gs pos="0">
                <a:srgbClr val="E8A0BF"/>
              </a:gs>
              <a:gs pos="100000">
                <a:srgbClr val="C07897"/>
              </a:gs>
            </a:gsLst>
            <a:lin ang="81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fault_cigerito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06040"/>
            <a:ext cx="256032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1206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8E4EF"/>
                </a:solidFill>
                <a:latin typeface="Nunito"/>
              </a:rPr>
              <a:t>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5321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9B95A8"/>
                </a:solidFill>
                <a:latin typeface="Nunito"/>
              </a:rPr>
              <a:t>Bilge &amp; sakin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94560"/>
            <a:ext cx="3566160" cy="39319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2468880"/>
            <a:ext cx="2834640" cy="2468880"/>
          </a:xfrm>
          <a:prstGeom prst="roundRect">
            <a:avLst>
              <a:gd name="adj" fmla="val 14000"/>
            </a:avLst>
          </a:prstGeom>
          <a:ln>
            <a:noFill/>
          </a:ln>
          <a:gradFill flip="none" rotWithShape="1">
            <a:gsLst>
              <a:gs pos="0">
                <a:srgbClr val="C4A8E8"/>
              </a:gs>
              <a:gs pos="100000">
                <a:srgbClr val="9C80C0"/>
              </a:gs>
            </a:gsLst>
            <a:lin ang="81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houghtful_cigerit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606040"/>
            <a:ext cx="2560320" cy="2560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97680" y="51206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8E4EF"/>
                </a:solidFill>
                <a:latin typeface="Nunito"/>
              </a:rPr>
              <a:t>Thoughtful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5321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9B95A8"/>
                </a:solidFill>
                <a:latin typeface="Nunito"/>
              </a:rPr>
              <a:t>Sarkastik gerçekçi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94560"/>
            <a:ext cx="3566160" cy="39319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2468880"/>
            <a:ext cx="2834640" cy="2468880"/>
          </a:xfrm>
          <a:prstGeom prst="roundRect">
            <a:avLst>
              <a:gd name="adj" fmla="val 14000"/>
            </a:avLst>
          </a:prstGeom>
          <a:ln>
            <a:noFill/>
          </a:ln>
          <a:gradFill flip="none" rotWithShape="1">
            <a:gsLst>
              <a:gs pos="0">
                <a:srgbClr val="A8D8B9"/>
              </a:gs>
              <a:gs pos="100000">
                <a:srgbClr val="80B091"/>
              </a:gs>
            </a:gsLst>
            <a:lin ang="81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appy_cigerito.s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606040"/>
            <a:ext cx="2560320" cy="2560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92440" y="51206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8E4EF"/>
                </a:solidFill>
                <a:latin typeface="Nunito"/>
              </a:rPr>
              <a:t>Happy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55321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9B95A8"/>
                </a:solidFill>
                <a:latin typeface="Nunito"/>
              </a:rPr>
              <a:t>Başarıyı kutlar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95A8"/>
                </a:solidFill>
                <a:latin typeface="Nunito"/>
              </a:rPr>
              <a:t>Luno · Ciğerito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B95A8"/>
                </a:solidFill>
                <a:latin typeface="Nunito"/>
              </a:rPr>
              <a:t>02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A0BF"/>
                </a:solidFill>
                <a:latin typeface="Nunito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4EF"/>
                </a:solidFill>
                <a:latin typeface="Nunito"/>
              </a:rPr>
              <a:t>Gerçek zamanlı kayıp takibi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40080" cy="64008"/>
          </a:xfrm>
          <a:prstGeom prst="roundRect">
            <a:avLst>
              <a:gd name="adj" fmla="val 12000"/>
            </a:avLst>
          </a:prstGeom>
          <a:solidFill>
            <a:srgbClr val="D4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554480"/>
            <a:ext cx="2281666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828800"/>
            <a:ext cx="7132320" cy="9601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09728" cy="960120"/>
          </a:xfrm>
          <a:prstGeom prst="roundRect">
            <a:avLst>
              <a:gd name="adj" fmla="val 12000"/>
            </a:avLst>
          </a:prstGeom>
          <a:solidFill>
            <a:srgbClr val="D4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4789E"/>
                </a:solidFill>
                <a:latin typeface="Nunito"/>
              </a:rPr>
              <a:t>Yanan Para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Sigaraya giden bütçe canlı sayaçla.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7132320" cy="9601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109728" cy="960120"/>
          </a:xfrm>
          <a:prstGeom prst="roundRect">
            <a:avLst>
              <a:gd name="adj" fmla="val 12000"/>
            </a:avLst>
          </a:prstGeom>
          <a:solidFill>
            <a:srgbClr val="F0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906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0C987"/>
                </a:solidFill>
                <a:latin typeface="Nunito"/>
              </a:rPr>
              <a:t>Kaybedilen Zaman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2900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Her sigara = 11 dk. Yıllık toplam.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4800"/>
            <a:ext cx="7132320" cy="9601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4114800"/>
            <a:ext cx="109728" cy="960120"/>
          </a:xfrm>
          <a:prstGeom prst="roundRect">
            <a:avLst>
              <a:gd name="adj" fmla="val 12000"/>
            </a:avLst>
          </a:prstGeom>
          <a:solidFill>
            <a:srgbClr val="B8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336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B8C5E8"/>
                </a:solidFill>
                <a:latin typeface="Nunito"/>
              </a:rPr>
              <a:t>İçilen Sigara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Toplam adet ve görsel karşılaştırma.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7132320" cy="9601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5257800"/>
            <a:ext cx="109728" cy="960120"/>
          </a:xfrm>
          <a:prstGeom prst="roundRect">
            <a:avLst>
              <a:gd name="adj" fmla="val 12000"/>
            </a:avLst>
          </a:prstGeom>
          <a:solidFill>
            <a:srgbClr val="7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3766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BC49A"/>
                </a:solidFill>
                <a:latin typeface="Nunito"/>
              </a:rPr>
              <a:t>Haftalık Hedef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1500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İlerleme barı + Ciğerito yorumları.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95A8"/>
                </a:solidFill>
                <a:latin typeface="Nunito"/>
              </a:rPr>
              <a:t>Luno · Ciğerito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B95A8"/>
                </a:solidFill>
                <a:latin typeface="Nunito"/>
              </a:rPr>
              <a:t>03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A0BF"/>
                </a:solidFill>
                <a:latin typeface="Nunito"/>
              </a:rPr>
              <a:t>HASAR RAPORU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4EF"/>
                </a:solidFill>
                <a:latin typeface="Nunito"/>
              </a:rPr>
              <a:t>Acı gerçeklerle yüzleşme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40080" cy="64008"/>
          </a:xfrm>
          <a:prstGeom prst="roundRect">
            <a:avLst>
              <a:gd name="adj" fmla="val 12000"/>
            </a:avLst>
          </a:prstGeom>
          <a:solidFill>
            <a:srgbClr val="D4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mage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281666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37760" y="182880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E4EF"/>
                </a:solidFill>
                <a:latin typeface="Nunito"/>
              </a:rPr>
              <a:t>Organ bazlı birikmiş hasar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33172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B95A8"/>
                </a:solidFill>
                <a:latin typeface="Nunito"/>
              </a:rPr>
              <a:t>Akciğer, kalp, beyin ve cilt için yüzde bazlı analiz.</a:t>
            </a:r>
          </a:p>
          <a:p>
            <a:pPr algn="l"/>
            <a:r>
              <a:rPr sz="1400" b="0">
                <a:solidFill>
                  <a:srgbClr val="9B95A8"/>
                </a:solidFill>
                <a:latin typeface="Nunito"/>
              </a:rPr>
              <a:t>Ciğerito iğneleyici ama gerçekçi yorumlarla eşlik eder.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3657600"/>
            <a:ext cx="3291840" cy="11887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66360" y="38862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B95A8"/>
                </a:solidFill>
                <a:latin typeface="Nunito"/>
              </a:rPr>
              <a:t>Akciğer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1605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E4EF"/>
                </a:solidFill>
                <a:latin typeface="Nunito"/>
              </a:rPr>
              <a:t>62%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3657600"/>
            <a:ext cx="3291840" cy="11887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0" y="38862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0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B95A8"/>
                </a:solidFill>
                <a:latin typeface="Nunito"/>
              </a:rPr>
              <a:t>Kalp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41605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E4EF"/>
                </a:solidFill>
                <a:latin typeface="Nunito"/>
              </a:rPr>
              <a:t>41%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5029200"/>
            <a:ext cx="3291840" cy="11887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66360" y="52578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B8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5212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B95A8"/>
                </a:solidFill>
                <a:latin typeface="Nunito"/>
              </a:rPr>
              <a:t>Beyin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55321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E4EF"/>
                </a:solidFill>
                <a:latin typeface="Nunito"/>
              </a:rPr>
              <a:t>33%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5029200"/>
            <a:ext cx="3291840" cy="11887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0" y="52578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C4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5212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B95A8"/>
                </a:solidFill>
                <a:latin typeface="Nunito"/>
              </a:rPr>
              <a:t>Cilt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55321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E4EF"/>
                </a:solidFill>
                <a:latin typeface="Nunito"/>
              </a:rPr>
              <a:t>28%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95A8"/>
                </a:solidFill>
                <a:latin typeface="Nunito"/>
              </a:rPr>
              <a:t>Luno · Ciğerito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B95A8"/>
                </a:solidFill>
                <a:latin typeface="Nunito"/>
              </a:rPr>
              <a:t>04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A0BF"/>
                </a:solidFill>
                <a:latin typeface="Nunito"/>
              </a:rPr>
              <a:t>KRIZ MODU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4EF"/>
                </a:solidFill>
                <a:latin typeface="Nunito"/>
              </a:rPr>
              <a:t>İsteğin tepe noktasında müdahale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40080" cy="64008"/>
          </a:xfrm>
          <a:prstGeom prst="roundRect">
            <a:avLst>
              <a:gd name="adj" fmla="val 12000"/>
            </a:avLst>
          </a:prstGeom>
          <a:solidFill>
            <a:srgbClr val="D4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isis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554480"/>
            <a:ext cx="2281666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828800"/>
            <a:ext cx="7132320" cy="9601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09728" cy="960120"/>
          </a:xfrm>
          <a:prstGeom prst="roundRect">
            <a:avLst>
              <a:gd name="adj" fmla="val 12000"/>
            </a:avLst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57373"/>
                </a:solidFill>
                <a:latin typeface="Nunito"/>
              </a:rPr>
              <a:t>Acil ekran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Tek dokunuşla aktif olan kriz alanı.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7132320" cy="9601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109728" cy="960120"/>
          </a:xfrm>
          <a:prstGeom prst="roundRect">
            <a:avLst>
              <a:gd name="adj" fmla="val 12000"/>
            </a:avLst>
          </a:prstGeom>
          <a:solidFill>
            <a:srgbClr val="B8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906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B8C5E8"/>
                </a:solidFill>
                <a:latin typeface="Nunito"/>
              </a:rPr>
              <a:t>Nefes &amp; oyalama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2900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Kısa nefes egzersizi ve Ciğerito sohbeti.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4800"/>
            <a:ext cx="7132320" cy="9601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4114800"/>
            <a:ext cx="109728" cy="960120"/>
          </a:xfrm>
          <a:prstGeom prst="roundRect">
            <a:avLst>
              <a:gd name="adj" fmla="val 12000"/>
            </a:avLst>
          </a:prstGeom>
          <a:solidFill>
            <a:srgbClr val="7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336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BC49A"/>
                </a:solidFill>
                <a:latin typeface="Nunito"/>
              </a:rPr>
              <a:t>Kriz istatistiği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Atlatılan krizler ve başarı oranı kaydı.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7132320" cy="9601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5257800"/>
            <a:ext cx="109728" cy="960120"/>
          </a:xfrm>
          <a:prstGeom prst="roundRect">
            <a:avLst>
              <a:gd name="adj" fmla="val 12000"/>
            </a:avLst>
          </a:prstGeom>
          <a:solidFill>
            <a:srgbClr val="C4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3766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4A8E8"/>
                </a:solidFill>
                <a:latin typeface="Nunito"/>
              </a:rPr>
              <a:t>Hatırlatma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1500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Önceki krizdeki gerekçen geri gösterilir.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95A8"/>
                </a:solidFill>
                <a:latin typeface="Nunito"/>
              </a:rPr>
              <a:t>Luno · Ciğerito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B95A8"/>
                </a:solidFill>
                <a:latin typeface="Nunito"/>
              </a:rPr>
              <a:t>05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A0BF"/>
                </a:solidFill>
                <a:latin typeface="Nunito"/>
              </a:rPr>
              <a:t>GÜNLÜK &amp; GEÇMIŞ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4EF"/>
                </a:solidFill>
                <a:latin typeface="Nunito"/>
              </a:rPr>
              <a:t>Veriyle yüzleşmenin haftalık ritmi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40080" cy="64008"/>
          </a:xfrm>
          <a:prstGeom prst="roundRect">
            <a:avLst>
              <a:gd name="adj" fmla="val 12000"/>
            </a:avLst>
          </a:prstGeom>
          <a:solidFill>
            <a:srgbClr val="D4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istory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281666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37760" y="182880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E4EF"/>
                </a:solidFill>
                <a:latin typeface="Nunito"/>
              </a:rPr>
              <a:t>Premium diary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33172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4EF"/>
                </a:solidFill>
                <a:latin typeface="Nunito"/>
              </a:rPr>
              <a:t>• Günlük check-in: kaç sigara, kaç kriz, hangi duygu?</a:t>
            </a:r>
          </a:p>
          <a:p>
            <a:pPr algn="l"/>
            <a:r>
              <a:rPr sz="1400" b="0">
                <a:solidFill>
                  <a:srgbClr val="E8E4EF"/>
                </a:solidFill>
                <a:latin typeface="Nunito"/>
              </a:rPr>
              <a:t>• Takvim görünümü ve haftalık ilerleme barı.</a:t>
            </a:r>
          </a:p>
          <a:p>
            <a:pPr algn="l"/>
            <a:r>
              <a:rPr sz="1400" b="0">
                <a:solidFill>
                  <a:srgbClr val="E8E4EF"/>
                </a:solidFill>
                <a:latin typeface="Nunito"/>
              </a:rPr>
              <a:t>• Hive + Firestore çift katmanlı kayıt — offline-first.</a:t>
            </a:r>
          </a:p>
          <a:p>
            <a:pPr algn="l"/>
            <a:r>
              <a:rPr sz="1400" b="0">
                <a:solidFill>
                  <a:srgbClr val="E8E4EF"/>
                </a:solidFill>
                <a:latin typeface="Nunito"/>
              </a:rPr>
              <a:t>• Veriler dashboard ve hasar raporunu canlı besler.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5120640"/>
            <a:ext cx="2103120" cy="11887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5257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B95A8"/>
                </a:solidFill>
                <a:latin typeface="Nunito"/>
              </a:rPr>
              <a:t>Streak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5623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7BC49A"/>
                </a:solidFill>
                <a:latin typeface="Nunito"/>
              </a:rPr>
              <a:t>14 gün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5120640"/>
            <a:ext cx="2103120" cy="11887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5257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B95A8"/>
                </a:solidFill>
                <a:latin typeface="Nunito"/>
              </a:rPr>
              <a:t>Kazanılan 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5623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D4789E"/>
                </a:solidFill>
                <a:latin typeface="Nunito"/>
              </a:rPr>
              <a:t>2.380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5120640"/>
            <a:ext cx="2103120" cy="118872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5257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B95A8"/>
                </a:solidFill>
                <a:latin typeface="Nunito"/>
              </a:rPr>
              <a:t>Atlatılan kriz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623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B8C5E8"/>
                </a:solidFill>
                <a:latin typeface="Nunito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95A8"/>
                </a:solidFill>
                <a:latin typeface="Nunito"/>
              </a:rPr>
              <a:t>Luno · Ciğerito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B95A8"/>
                </a:solidFill>
                <a:latin typeface="Nunito"/>
              </a:rPr>
              <a:t>06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A0BF"/>
                </a:solidFill>
                <a:latin typeface="Nunito"/>
              </a:rPr>
              <a:t>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4EF"/>
                </a:solidFill>
                <a:latin typeface="Nunito"/>
              </a:rPr>
              <a:t>Cigerito Theme · tema.md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40080" cy="64008"/>
          </a:xfrm>
          <a:prstGeom prst="roundRect">
            <a:avLst>
              <a:gd name="adj" fmla="val 12000"/>
            </a:avLst>
          </a:prstGeom>
          <a:solidFill>
            <a:srgbClr val="D4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E4EF"/>
                </a:solidFill>
                <a:latin typeface="Nunito"/>
              </a:rPr>
              <a:t>Renk Paleti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1280160" cy="1097280"/>
          </a:xfrm>
          <a:prstGeom prst="roundRect">
            <a:avLst>
              <a:gd name="adj" fmla="val 12000"/>
            </a:avLst>
          </a:prstGeom>
          <a:solidFill>
            <a:srgbClr val="E8A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B95A8"/>
                </a:solidFill>
                <a:latin typeface="Nunito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B95A8"/>
                </a:solidFill>
                <a:latin typeface="Nunito"/>
              </a:rPr>
              <a:t>#E8A0BF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286000"/>
            <a:ext cx="1280160" cy="1097280"/>
          </a:xfrm>
          <a:prstGeom prst="roundRect">
            <a:avLst>
              <a:gd name="adj" fmla="val 12000"/>
            </a:avLst>
          </a:prstGeom>
          <a:solidFill>
            <a:srgbClr val="D4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429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B95A8"/>
                </a:solidFill>
                <a:latin typeface="Nunito"/>
              </a:rPr>
              <a:t>Primary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B95A8"/>
                </a:solidFill>
                <a:latin typeface="Nunito"/>
              </a:rPr>
              <a:t>#D4789E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286000"/>
            <a:ext cx="1280160" cy="1097280"/>
          </a:xfrm>
          <a:prstGeom prst="roundRect">
            <a:avLst>
              <a:gd name="adj" fmla="val 12000"/>
            </a:avLst>
          </a:prstGeom>
          <a:solidFill>
            <a:srgbClr val="A8D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3429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B95A8"/>
                </a:solidFill>
                <a:latin typeface="Nunito"/>
              </a:rPr>
              <a:t>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B95A8"/>
                </a:solidFill>
                <a:latin typeface="Nunito"/>
              </a:rPr>
              <a:t>#A8D8B9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286000"/>
            <a:ext cx="1280160" cy="1097280"/>
          </a:xfrm>
          <a:prstGeom prst="roundRect">
            <a:avLst>
              <a:gd name="adj" fmla="val 12000"/>
            </a:avLst>
          </a:prstGeom>
          <a:solidFill>
            <a:srgbClr val="B8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429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B95A8"/>
                </a:solidFill>
                <a:latin typeface="Nunito"/>
              </a:rPr>
              <a:t>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B95A8"/>
                </a:solidFill>
                <a:latin typeface="Nunito"/>
              </a:rPr>
              <a:t>#B8C5E8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1280160" cy="1097280"/>
          </a:xfrm>
          <a:prstGeom prst="roundRect">
            <a:avLst>
              <a:gd name="adj" fmla="val 12000"/>
            </a:avLst>
          </a:prstGeom>
          <a:solidFill>
            <a:srgbClr val="F0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74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B95A8"/>
                </a:solidFill>
                <a:latin typeface="Nunito"/>
              </a:rPr>
              <a:t>Warning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B95A8"/>
                </a:solidFill>
                <a:latin typeface="Nunito"/>
              </a:rPr>
              <a:t>#F0C987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3931920"/>
            <a:ext cx="1280160" cy="1097280"/>
          </a:xfrm>
          <a:prstGeom prst="roundRect">
            <a:avLst>
              <a:gd name="adj" fmla="val 12000"/>
            </a:avLst>
          </a:prstGeom>
          <a:solidFill>
            <a:srgbClr val="C4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5074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B95A8"/>
                </a:solidFill>
                <a:latin typeface="Nunito"/>
              </a:rPr>
              <a:t>Purple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B95A8"/>
                </a:solidFill>
                <a:latin typeface="Nunito"/>
              </a:rPr>
              <a:t>#C4A8E8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931920"/>
            <a:ext cx="1280160" cy="1097280"/>
          </a:xfrm>
          <a:prstGeom prst="roundRect">
            <a:avLst>
              <a:gd name="adj" fmla="val 12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5074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B95A8"/>
                </a:solidFill>
                <a:latin typeface="Nunito"/>
              </a:rPr>
              <a:t>BG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B95A8"/>
                </a:solidFill>
                <a:latin typeface="Nunito"/>
              </a:rPr>
              <a:t>#1A1625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931920"/>
            <a:ext cx="1280160" cy="109728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5074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B95A8"/>
                </a:solidFill>
                <a:latin typeface="Nunito"/>
              </a:rPr>
              <a:t>Card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B95A8"/>
                </a:solidFill>
                <a:latin typeface="Nunito"/>
              </a:rPr>
              <a:t>#231E30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E4EF"/>
                </a:solidFill>
                <a:latin typeface="Nunito"/>
              </a:rPr>
              <a:t>Tipografi · Nunito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2402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8E4EF"/>
                </a:solidFill>
                <a:latin typeface="Nunito"/>
              </a:rPr>
              <a:t>H1 · 28.8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E4EF"/>
                </a:solidFill>
                <a:latin typeface="Nunito"/>
              </a:rPr>
              <a:t>H2 · 22.4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Body · 14.1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840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E4EF"/>
                </a:solidFill>
                <a:latin typeface="Nunito"/>
              </a:rPr>
              <a:t>Radius &amp; Spacing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25196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B95A8"/>
                </a:solidFill>
                <a:latin typeface="Nunito"/>
              </a:rPr>
              <a:t>• Kart · 16  • Input · 12  • Progress · ∞</a:t>
            </a:r>
          </a:p>
          <a:p>
            <a:pPr algn="l"/>
            <a:r>
              <a:rPr sz="1300" b="0">
                <a:solidFill>
                  <a:srgbClr val="9B95A8"/>
                </a:solidFill>
                <a:latin typeface="Nunito"/>
              </a:rPr>
              <a:t>• Page padding · 20  • Section gap · 24</a:t>
            </a:r>
          </a:p>
          <a:p>
            <a:pPr algn="l"/>
            <a:r>
              <a:rPr sz="1300" b="0">
                <a:solidFill>
                  <a:srgbClr val="9B95A8"/>
                </a:solidFill>
                <a:latin typeface="Nunito"/>
              </a:rPr>
              <a:t>• Shadow-sm (kart)  ·  Shadow-lg (CTA)</a:t>
            </a:r>
          </a:p>
          <a:p>
            <a:pPr algn="l"/>
            <a:r>
              <a:rPr sz="1300" b="0">
                <a:solidFill>
                  <a:srgbClr val="9B95A8"/>
                </a:solidFill>
                <a:latin typeface="Nunito"/>
              </a:rPr>
              <a:t>• Gradient CTA: 135° #E8A0BF → #D4789E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5760720"/>
            <a:ext cx="3200400" cy="640080"/>
          </a:xfrm>
          <a:prstGeom prst="roundRect">
            <a:avLst>
              <a:gd name="adj" fmla="val 14000"/>
            </a:avLst>
          </a:prstGeom>
          <a:ln>
            <a:noFill/>
          </a:ln>
          <a:gradFill flip="none" rotWithShape="1">
            <a:gsLst>
              <a:gs pos="0">
                <a:srgbClr val="E8A0BF"/>
              </a:gs>
              <a:gs pos="100000">
                <a:srgbClr val="D4789E"/>
              </a:gs>
            </a:gsLst>
            <a:lin ang="81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58704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A1625"/>
                </a:solidFill>
                <a:latin typeface="Nunito"/>
              </a:rPr>
              <a:t>Primary CTA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95A8"/>
                </a:solidFill>
                <a:latin typeface="Nunito"/>
              </a:rPr>
              <a:t>Luno · Ciğerito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B95A8"/>
                </a:solidFill>
                <a:latin typeface="Nunito"/>
              </a:rPr>
              <a:t>07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A0BF"/>
                </a:solidFill>
                <a:latin typeface="Nunito"/>
              </a:rPr>
              <a:t>MIMARI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4EF"/>
                </a:solidFill>
                <a:latin typeface="Nunito"/>
              </a:rPr>
              <a:t>Feature-first · 3 katmanlı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40080" cy="64008"/>
          </a:xfrm>
          <a:prstGeom prst="roundRect">
            <a:avLst>
              <a:gd name="adj" fmla="val 12000"/>
            </a:avLst>
          </a:prstGeom>
          <a:solidFill>
            <a:srgbClr val="D4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3657600" cy="237744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3657600" cy="137160"/>
          </a:xfrm>
          <a:prstGeom prst="roundRect">
            <a:avLst>
              <a:gd name="adj" fmla="val 12000"/>
            </a:avLst>
          </a:prstGeom>
          <a:solidFill>
            <a:srgbClr val="D4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4789E"/>
                </a:solidFill>
                <a:latin typeface="Nunito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Screen · Page · Widget · Controller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11680"/>
            <a:ext cx="3657600" cy="237744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2011680"/>
            <a:ext cx="3657600" cy="137160"/>
          </a:xfrm>
          <a:prstGeom prst="roundRect">
            <a:avLst>
              <a:gd name="adj" fmla="val 12000"/>
            </a:avLst>
          </a:prstGeom>
          <a:solidFill>
            <a:srgbClr val="B8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2402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8C5E8"/>
                </a:solidFill>
                <a:latin typeface="Nunito"/>
              </a:rPr>
              <a:t>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Riverpod providers · Calculator · Use-case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011680"/>
            <a:ext cx="3657600" cy="237744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2011680"/>
            <a:ext cx="3657600" cy="137160"/>
          </a:xfrm>
          <a:prstGeom prst="roundRect">
            <a:avLst>
              <a:gd name="adj" fmla="val 12000"/>
            </a:avLst>
          </a:prstGeom>
          <a:solidFill>
            <a:srgbClr val="7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2402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7BC49A"/>
                </a:solidFill>
                <a:latin typeface="Nunito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69748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Repository · Models · Firestore · Hive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463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D4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ctr"/>
            <a:r>
              <a:rPr sz="1200" b="1">
                <a:solidFill>
                  <a:srgbClr val="1A1625"/>
                </a:solidFill>
                <a:latin typeface="Nunito"/>
              </a:rPr>
              <a:t>Flutter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48463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B8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ctr"/>
            <a:r>
              <a:rPr sz="1200" b="1">
                <a:solidFill>
                  <a:srgbClr val="1A1625"/>
                </a:solidFill>
                <a:latin typeface="Nunito"/>
              </a:rPr>
              <a:t>Riverpod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40" y="48463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0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ctr"/>
            <a:r>
              <a:rPr sz="1200" b="1">
                <a:solidFill>
                  <a:srgbClr val="1A1625"/>
                </a:solidFill>
                <a:latin typeface="Nunito"/>
              </a:rPr>
              <a:t>Hive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48463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7B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ctr"/>
            <a:r>
              <a:rPr sz="1200" b="1">
                <a:solidFill>
                  <a:srgbClr val="1A1625"/>
                </a:solidFill>
                <a:latin typeface="Nunito"/>
              </a:rPr>
              <a:t>Firebase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48463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C4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ctr"/>
            <a:r>
              <a:rPr sz="1200" b="1">
                <a:solidFill>
                  <a:srgbClr val="1A1625"/>
                </a:solidFill>
                <a:latin typeface="Nunito"/>
              </a:rPr>
              <a:t>GoRouter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48463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E8A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ctr"/>
            <a:r>
              <a:rPr sz="1200" b="1">
                <a:solidFill>
                  <a:srgbClr val="1A1625"/>
                </a:solidFill>
                <a:latin typeface="Nunito"/>
              </a:rPr>
              <a:t>Nunito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B95A8"/>
                </a:solidFill>
                <a:latin typeface="Nunito"/>
              </a:rPr>
              <a:t>Offline-first deneyim: Hive üzerinde anlık okuma, Firestore senkronizasyonu arka planda.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95A8"/>
                </a:solidFill>
                <a:latin typeface="Nunito"/>
              </a:rPr>
              <a:t>Luno · Ciğerito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B95A8"/>
                </a:solidFill>
                <a:latin typeface="Nunito"/>
              </a:rPr>
              <a:t>08 /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1A1625"/>
              </a:gs>
              <a:gs pos="100000">
                <a:srgbClr val="3A2D45"/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A0BF"/>
                </a:solidFill>
                <a:latin typeface="Nunito"/>
              </a:rPr>
              <a:t>NEDEN LUNO?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E8E4EF"/>
                </a:solidFill>
                <a:latin typeface="Nunito"/>
              </a:rPr>
              <a:t>Sigarayı bırakmak</a:t>
            </a:r>
          </a:p>
          <a:p>
            <a:pPr algn="l"/>
            <a:r>
              <a:rPr sz="4200" b="1">
                <a:solidFill>
                  <a:srgbClr val="E8E4EF"/>
                </a:solidFill>
                <a:latin typeface="Nunito"/>
              </a:rPr>
              <a:t>bir karar anıyla başlar.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64008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9728" cy="640080"/>
          </a:xfrm>
          <a:prstGeom prst="roundRect">
            <a:avLst>
              <a:gd name="adj" fmla="val 12000"/>
            </a:avLst>
          </a:prstGeom>
          <a:solidFill>
            <a:srgbClr val="E8A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186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A0BF"/>
                </a:solidFill>
                <a:latin typeface="Nunito"/>
              </a:rPr>
              <a:t>Empati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2186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Yargılayan değil, eşlik eden ton.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10698480" cy="64008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109728" cy="640080"/>
          </a:xfrm>
          <a:prstGeom prst="roundRect">
            <a:avLst>
              <a:gd name="adj" fmla="val 12000"/>
            </a:avLst>
          </a:prstGeom>
          <a:solidFill>
            <a:srgbClr val="F0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959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0C987"/>
                </a:solidFill>
                <a:latin typeface="Nunito"/>
              </a:rPr>
              <a:t>Gerçek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9959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İstatistikle yüzleştirme, sahte iyimserlik yok.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10698480" cy="64008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109728" cy="640080"/>
          </a:xfrm>
          <a:prstGeom prst="roundRect">
            <a:avLst>
              <a:gd name="adj" fmla="val 12000"/>
            </a:avLst>
          </a:prstGeom>
          <a:solidFill>
            <a:srgbClr val="A8D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7316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8D8B9"/>
                </a:solidFill>
                <a:latin typeface="Nunito"/>
              </a:rPr>
              <a:t>Bağ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77316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Ciğerito — duygusal anchor ve hatırlatıcı.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40680"/>
            <a:ext cx="10698480" cy="640080"/>
          </a:xfrm>
          <a:prstGeom prst="roundRect">
            <a:avLst>
              <a:gd name="adj" fmla="val 12000"/>
            </a:avLst>
          </a:prstGeom>
          <a:solidFill>
            <a:srgbClr val="231E30"/>
          </a:solidFill>
          <a:ln w="9525">
            <a:solidFill>
              <a:srgbClr val="3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5440680"/>
            <a:ext cx="109728" cy="640080"/>
          </a:xfrm>
          <a:prstGeom prst="roundRect">
            <a:avLst>
              <a:gd name="adj" fmla="val 12000"/>
            </a:avLst>
          </a:prstGeom>
          <a:solidFill>
            <a:srgbClr val="B8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504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C5E8"/>
                </a:solidFill>
                <a:latin typeface="Nunito"/>
              </a:rPr>
              <a:t>Erken müdahale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555040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4EF"/>
                </a:solidFill>
                <a:latin typeface="Nunito"/>
              </a:rPr>
              <a:t>Krize girmeden değil, krizdeyken yardım.</a:t>
            </a:r>
          </a:p>
        </p:txBody>
      </p:sp>
      <p:pic>
        <p:nvPicPr>
          <p:cNvPr id="22" name="Picture 21" descr="happy_cigerito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48640"/>
            <a:ext cx="1920240" cy="1920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B95A8"/>
                </a:solidFill>
                <a:latin typeface="Nunito"/>
              </a:rPr>
              <a:t>Ciğerito seninle birlikte. 🫁   ·   “Bırakmak yalnız atılan bir adım değil.”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